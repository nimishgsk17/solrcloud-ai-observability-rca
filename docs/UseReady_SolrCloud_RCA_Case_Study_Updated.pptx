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62" r:id="rId2"/>
    <p:sldId id="256" r:id="rId3"/>
    <p:sldId id="257" r:id="rId4"/>
    <p:sldId id="258" r:id="rId5"/>
    <p:sldId id="259" r:id="rId6"/>
    <p:sldId id="263" r:id="rId7"/>
    <p:sldId id="264" r:id="rId8"/>
    <p:sldId id="260" r:id="rId9"/>
    <p:sldId id="261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53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4570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libabacloud.com/help/en/model-studio/model-pricing" TargetMode="External"/><Relationship Id="rId2" Type="http://schemas.openxmlformats.org/officeDocument/2006/relationships/hyperlink" Target="https://console.groq.com/docs/model/openai/gpt-oss-120b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ollama.com/library/qwen3" TargetMode="External"/><Relationship Id="rId4" Type="http://schemas.openxmlformats.org/officeDocument/2006/relationships/hyperlink" Target="https://developers.openai.com/api/docs/models/gpt-5-mini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263640" cy="685800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04088" y="694944"/>
            <a:ext cx="2121408" cy="402336"/>
          </a:xfrm>
          <a:prstGeom prst="roundRect">
            <a:avLst>
              <a:gd name="adj" fmla="val 12000"/>
            </a:avLst>
          </a:prstGeom>
          <a:solidFill>
            <a:srgbClr val="2439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13816" y="768096"/>
            <a:ext cx="1892807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E0FF"/>
                </a:solidFill>
                <a:latin typeface="Aptos"/>
              </a:rPr>
              <a:t>USEREADY  /  AI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81328"/>
            <a:ext cx="4937760" cy="141732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550" b="1">
                <a:solidFill>
                  <a:srgbClr val="FFFFFF"/>
                </a:solidFill>
                <a:latin typeface="Aptos"/>
              </a:rPr>
              <a:t>SolrCloud AI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550" b="1">
                <a:solidFill>
                  <a:srgbClr val="FFFFFF"/>
                </a:solidFill>
                <a:latin typeface="Aptos"/>
              </a:rPr>
              <a:t>Observability &amp; RCA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3154680"/>
            <a:ext cx="649224" cy="64008"/>
          </a:xfrm>
          <a:prstGeom prst="rect">
            <a:avLst/>
          </a:prstGeom>
          <a:solidFill>
            <a:srgbClr val="48D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2376" y="3529584"/>
            <a:ext cx="4983480" cy="86868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20" b="0">
                <a:solidFill>
                  <a:srgbClr val="DCE6FB"/>
                </a:solidFill>
                <a:latin typeface="Aptos"/>
              </a:rPr>
              <a:t>An evidence-first platform for detecting, correlating and investigating SolrCloud operational incidents.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5193792"/>
            <a:ext cx="4736592" cy="0"/>
          </a:xfrm>
          <a:prstGeom prst="line">
            <a:avLst/>
          </a:prstGeom>
          <a:ln w="12700">
            <a:solidFill>
              <a:srgbClr val="5870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13232" y="5404104"/>
            <a:ext cx="5303520" cy="4480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C5D6F5"/>
                </a:solidFill>
                <a:latin typeface="Aptos"/>
              </a:rPr>
              <a:t>DESIGN  ·  WORKING PROTOTYPE  ·  EVALUATION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5907024"/>
            <a:ext cx="5303520" cy="35661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80" b="0">
                <a:solidFill>
                  <a:srgbClr val="B6C5DE"/>
                </a:solidFill>
                <a:latin typeface="Aptos"/>
              </a:rPr>
              <a:t>AI Engineer Case Study   •   October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786384"/>
            <a:ext cx="3319272" cy="301752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50024" y="804672"/>
            <a:ext cx="320954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30" b="1">
                <a:solidFill>
                  <a:srgbClr val="385DD7"/>
                </a:solidFill>
                <a:latin typeface="Aptos"/>
              </a:rPr>
              <a:t>FROM RAW LOGS TO INCIDENTS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1508760"/>
            <a:ext cx="4315968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132320" y="1746504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32904" y="1856231"/>
            <a:ext cx="402336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85DD7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1719072"/>
            <a:ext cx="3072384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644"/>
                </a:solidFill>
                <a:latin typeface="Aptos"/>
              </a:rPr>
              <a:t>Detect anomalies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82127" y="2048256"/>
            <a:ext cx="312724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1718A"/>
                </a:solidFill>
                <a:latin typeface="Aptos"/>
              </a:rPr>
              <a:t>Rules + robust statistics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144000" y="2532888"/>
            <a:ext cx="0" cy="320040"/>
          </a:xfrm>
          <a:prstGeom prst="line">
            <a:avLst/>
          </a:prstGeom>
          <a:ln w="19050">
            <a:solidFill>
              <a:srgbClr val="8BA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903720" y="2852928"/>
            <a:ext cx="4315968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7132320" y="3090672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32904" y="3191256"/>
            <a:ext cx="402336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385DD7"/>
                </a:solidFill>
                <a:latin typeface="Aptos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82127" y="3063240"/>
            <a:ext cx="3072384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644"/>
                </a:solidFill>
                <a:latin typeface="Aptos"/>
              </a:rPr>
              <a:t>Correlate findings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7" y="3374136"/>
            <a:ext cx="312724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1718A"/>
                </a:solidFill>
                <a:latin typeface="Aptos"/>
              </a:rPr>
              <a:t>Deterministic incident grouping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144000" y="3877056"/>
            <a:ext cx="0" cy="320040"/>
          </a:xfrm>
          <a:prstGeom prst="line">
            <a:avLst/>
          </a:prstGeom>
          <a:ln w="19050">
            <a:solidFill>
              <a:srgbClr val="8BA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03720" y="4197096"/>
            <a:ext cx="4315968" cy="10241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7132320" y="4434840"/>
            <a:ext cx="594360" cy="548640"/>
          </a:xfrm>
          <a:prstGeom prst="roundRect">
            <a:avLst>
              <a:gd name="adj" fmla="val 12000"/>
            </a:avLst>
          </a:prstGeom>
          <a:solidFill>
            <a:srgbClr val="E7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232904" y="4535424"/>
            <a:ext cx="402336" cy="3200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8A82"/>
                </a:solidFill>
                <a:latin typeface="Aptos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82127" y="4407408"/>
            <a:ext cx="3072384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2644"/>
                </a:solidFill>
                <a:latin typeface="Aptos"/>
              </a:rPr>
              <a:t>Investigate selectively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4718304"/>
            <a:ext cx="312724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70" b="0">
                <a:solidFill>
                  <a:srgbClr val="61718A"/>
                </a:solidFill>
                <a:latin typeface="Aptos"/>
              </a:rPr>
              <a:t>Optional two-stage LLM RCA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14032" y="5650992"/>
            <a:ext cx="3730752" cy="301752"/>
          </a:xfrm>
          <a:prstGeom prst="roundRect">
            <a:avLst>
              <a:gd name="adj" fmla="val 12000"/>
            </a:avLst>
          </a:prstGeom>
          <a:solidFill>
            <a:srgbClr val="E7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168896" y="5669279"/>
            <a:ext cx="3621024" cy="2560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19" b="1">
                <a:solidFill>
                  <a:srgbClr val="008A82"/>
                </a:solidFill>
                <a:latin typeface="Aptos"/>
              </a:rPr>
              <a:t>NO LLM REQUIRED FOR CORE DETECTION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35640" y="6556248"/>
            <a:ext cx="704088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1718A"/>
                </a:solidFill>
                <a:latin typeface="Aptos"/>
              </a:rPr>
              <a:t>01 /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02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UNDERSTANDING OF THE BRIEF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 am solving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periodic SolrCloud + JVM GC logs faster to investigate and easier to act 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" y="2121408"/>
            <a:ext cx="6419088" cy="4069080"/>
          </a:xfrm>
          <a:prstGeom prst="roundRect">
            <a:avLst>
              <a:gd name="adj" fmla="val 3596"/>
            </a:avLst>
          </a:prstGeom>
          <a:solidFill>
            <a:srgbClr val="142644"/>
          </a:solidFill>
          <a:ln w="1143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32688" y="2404872"/>
            <a:ext cx="5212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80" b="1" kern="0" spc="65" dirty="0">
                <a:solidFill>
                  <a:srgbClr val="BFD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REACTIVE TROUBLESHOOTING</a:t>
            </a:r>
            <a:endParaRPr lang="en-US" sz="1280" dirty="0"/>
          </a:p>
        </p:txBody>
      </p:sp>
      <p:sp>
        <p:nvSpPr>
          <p:cNvPr id="11" name="Text 9"/>
          <p:cNvSpPr/>
          <p:nvPr/>
        </p:nvSpPr>
        <p:spPr>
          <a:xfrm>
            <a:off x="914400" y="2862072"/>
            <a:ext cx="544982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are reviewed manually.</a:t>
            </a:r>
            <a:endParaRPr lang="en-US" sz="245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24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Signals are spread across nodes.</a:t>
            </a:r>
            <a:endParaRPr lang="en-US" sz="2450" dirty="0"/>
          </a:p>
        </p:txBody>
      </p:sp>
      <p:sp>
        <p:nvSpPr>
          <p:cNvPr id="12" name="Shape 10"/>
          <p:cNvSpPr/>
          <p:nvPr/>
        </p:nvSpPr>
        <p:spPr>
          <a:xfrm>
            <a:off x="950976" y="4297680"/>
            <a:ext cx="1636776" cy="795528"/>
          </a:xfrm>
          <a:prstGeom prst="roundRect">
            <a:avLst>
              <a:gd name="adj" fmla="val 18391"/>
            </a:avLst>
          </a:prstGeom>
          <a:solidFill>
            <a:srgbClr val="243958"/>
          </a:solidFill>
          <a:ln w="11430">
            <a:solidFill>
              <a:srgbClr val="3853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060704" y="443484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SOLR + GC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026664" y="4297680"/>
            <a:ext cx="1636776" cy="795528"/>
          </a:xfrm>
          <a:prstGeom prst="roundRect">
            <a:avLst>
              <a:gd name="adj" fmla="val 18391"/>
            </a:avLst>
          </a:prstGeom>
          <a:solidFill>
            <a:srgbClr val="243958"/>
          </a:solidFill>
          <a:ln w="11430">
            <a:solidFill>
              <a:srgbClr val="3853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136392" y="443484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REVIEW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102352" y="4297680"/>
            <a:ext cx="1636776" cy="795528"/>
          </a:xfrm>
          <a:prstGeom prst="roundRect">
            <a:avLst>
              <a:gd name="adj" fmla="val 18391"/>
            </a:avLst>
          </a:prstGeom>
          <a:solidFill>
            <a:srgbClr val="243958"/>
          </a:solidFill>
          <a:ln w="11430">
            <a:solidFill>
              <a:srgbClr val="38537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212080" y="4434840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SLOW RCA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2642616" y="4690872"/>
            <a:ext cx="347472" cy="0"/>
          </a:xfrm>
          <a:prstGeom prst="line">
            <a:avLst/>
          </a:prstGeom>
          <a:noFill/>
          <a:ln w="21590">
            <a:solidFill>
              <a:srgbClr val="A9C5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4718304" y="4690872"/>
            <a:ext cx="347472" cy="0"/>
          </a:xfrm>
          <a:prstGeom prst="line">
            <a:avLst/>
          </a:prstGeom>
          <a:noFill/>
          <a:ln w="21590">
            <a:solidFill>
              <a:srgbClr val="A9C5FF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941832" y="5586984"/>
            <a:ext cx="5458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10" dirty="0">
                <a:solidFill>
                  <a:srgbClr val="C8D5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shift: from raw lines to evidence-backed, reviewable incidents.</a:t>
            </a:r>
            <a:endParaRPr lang="en-US" sz="1410" dirty="0"/>
          </a:p>
        </p:txBody>
      </p:sp>
      <p:sp>
        <p:nvSpPr>
          <p:cNvPr id="21" name="Shape 19"/>
          <p:cNvSpPr/>
          <p:nvPr/>
        </p:nvSpPr>
        <p:spPr>
          <a:xfrm>
            <a:off x="7269480" y="2121408"/>
            <a:ext cx="4306824" cy="1225296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434072" y="2295144"/>
            <a:ext cx="50292" cy="877824"/>
          </a:xfrm>
          <a:prstGeom prst="rect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616952" y="2276856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 meaningful anomalies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616952" y="2633472"/>
            <a:ext cx="37856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GC pressure, slow queries, HTTP errors, ZooKeeper / leader events</a:t>
            </a:r>
            <a:endParaRPr lang="en-US" sz="1310" dirty="0"/>
          </a:p>
        </p:txBody>
      </p:sp>
      <p:sp>
        <p:nvSpPr>
          <p:cNvPr id="25" name="Shape 23"/>
          <p:cNvSpPr/>
          <p:nvPr/>
        </p:nvSpPr>
        <p:spPr>
          <a:xfrm>
            <a:off x="7269480" y="3465576"/>
            <a:ext cx="4306824" cy="1225296"/>
          </a:xfrm>
          <a:prstGeom prst="roundRect">
            <a:avLst>
              <a:gd name="adj" fmla="val 1194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434072" y="3639312"/>
            <a:ext cx="50292" cy="877824"/>
          </a:xfrm>
          <a:prstGeom prst="rect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616952" y="3621024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Correlate and assess health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616952" y="3977640"/>
            <a:ext cx="37856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Relate nearby events across nodes; infer node and cluster condition</a:t>
            </a:r>
            <a:endParaRPr lang="en-US" sz="1310" dirty="0"/>
          </a:p>
        </p:txBody>
      </p:sp>
      <p:sp>
        <p:nvSpPr>
          <p:cNvPr id="29" name="Shape 27"/>
          <p:cNvSpPr/>
          <p:nvPr/>
        </p:nvSpPr>
        <p:spPr>
          <a:xfrm>
            <a:off x="7269480" y="4809744"/>
            <a:ext cx="4306824" cy="1389888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7434072" y="4983480"/>
            <a:ext cx="50292" cy="1042416"/>
          </a:xfrm>
          <a:prstGeom prst="rect">
            <a:avLst/>
          </a:prstGeom>
          <a:solidFill>
            <a:srgbClr val="F2A14D"/>
          </a:solidFill>
          <a:ln w="12700">
            <a:solidFill>
              <a:srgbClr val="F2A14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616952" y="4965192"/>
            <a:ext cx="3803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root cause + next steps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616952" y="5321808"/>
            <a:ext cx="37856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Hypotheses, operational impact, cited evidence, safe remediation guidance in a UI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LOG PARSING  •  ANOMALIES  •  CORRELATION  •  RCA + IMPACT + REMEDIATION  •  SIMPLE UI</a:t>
            </a:r>
            <a:endParaRPr lang="en-US" sz="9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03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SOLUTION APPROACH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first; AI only where useful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deterministic baseline, with an optional bounded LangGraph investigation.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057400"/>
            <a:ext cx="5486400" cy="416052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309360" y="2057400"/>
            <a:ext cx="5257800" cy="4160520"/>
          </a:xfrm>
          <a:prstGeom prst="roundRect">
            <a:avLst>
              <a:gd name="adj" fmla="val 3516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05256" y="2276856"/>
            <a:ext cx="216712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87552" y="2318004"/>
            <a:ext cx="20025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 RUNS  /  PYTHON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556248" y="2276856"/>
            <a:ext cx="2496312" cy="301752"/>
          </a:xfrm>
          <a:prstGeom prst="roundRect">
            <a:avLst>
              <a:gd name="adj" fmla="val 48485"/>
            </a:avLst>
          </a:prstGeom>
          <a:solidFill>
            <a:srgbClr val="E7F7F3"/>
          </a:solidFill>
          <a:ln w="1143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638544" y="2318004"/>
            <a:ext cx="2331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DEMAND  /  LANGGRAPH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896112" y="2715768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96112" y="2724912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80744" y="2706624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Ingest</a:t>
            </a:r>
            <a:endParaRPr lang="en-US" sz="1530" dirty="0"/>
          </a:p>
        </p:txBody>
      </p:sp>
      <p:sp>
        <p:nvSpPr>
          <p:cNvPr id="18" name="Text 16"/>
          <p:cNvSpPr/>
          <p:nvPr/>
        </p:nvSpPr>
        <p:spPr>
          <a:xfrm>
            <a:off x="2642616" y="2711196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Bundled coupled synthetic files, uploaded logs, or folder polling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69848" y="3099816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896112" y="3328416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96112" y="3337560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80744" y="3319272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Normalize</a:t>
            </a:r>
            <a:endParaRPr lang="en-US" sz="1530" dirty="0"/>
          </a:p>
        </p:txBody>
      </p:sp>
      <p:sp>
        <p:nvSpPr>
          <p:cNvPr id="23" name="Text 21"/>
          <p:cNvSpPr/>
          <p:nvPr/>
        </p:nvSpPr>
        <p:spPr>
          <a:xfrm>
            <a:off x="2642616" y="3323844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parser.py → events with timestamps, nodes, fields and evidence IDs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69848" y="3712464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96112" y="3941064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3950208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80744" y="3931920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</a:t>
            </a:r>
            <a:endParaRPr lang="en-US" sz="1530" dirty="0"/>
          </a:p>
        </p:txBody>
      </p:sp>
      <p:sp>
        <p:nvSpPr>
          <p:cNvPr id="28" name="Text 26"/>
          <p:cNvSpPr/>
          <p:nvPr/>
        </p:nvSpPr>
        <p:spPr>
          <a:xfrm>
            <a:off x="2642616" y="3936492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analyzer.py → hard rules + rolling median / MAD / CUSUM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69848" y="4325112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896112" y="4553712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96112" y="4562856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4544568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Correlate</a:t>
            </a:r>
            <a:endParaRPr lang="en-US" sz="1530" dirty="0"/>
          </a:p>
        </p:txBody>
      </p:sp>
      <p:sp>
        <p:nvSpPr>
          <p:cNvPr id="33" name="Text 31"/>
          <p:cNvSpPr/>
          <p:nvPr/>
        </p:nvSpPr>
        <p:spPr>
          <a:xfrm>
            <a:off x="2642616" y="4549140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Union-find over time, node, anomaly family and shared ZK topology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9848" y="4937760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896112" y="5166360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896112" y="517550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380744" y="5157216"/>
            <a:ext cx="12527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5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</a:t>
            </a:r>
            <a:endParaRPr lang="en-US" sz="1530" dirty="0"/>
          </a:p>
        </p:txBody>
      </p:sp>
      <p:sp>
        <p:nvSpPr>
          <p:cNvPr id="38" name="Text 36"/>
          <p:cNvSpPr/>
          <p:nvPr/>
        </p:nvSpPr>
        <p:spPr>
          <a:xfrm>
            <a:off x="2642616" y="5161788"/>
            <a:ext cx="31912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Rule-based RCA, risk signals, cluster/node status and JSON output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574536" y="2715768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574536" y="2724912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031736" y="2706624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dossier</a:t>
            </a:r>
            <a:endParaRPr lang="en-US" sz="1480" dirty="0"/>
          </a:p>
        </p:txBody>
      </p:sp>
      <p:sp>
        <p:nvSpPr>
          <p:cNvPr id="42" name="Text 40"/>
          <p:cNvSpPr/>
          <p:nvPr/>
        </p:nvSpPr>
        <p:spPr>
          <a:xfrm>
            <a:off x="8375904" y="2711196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log excerpts + valid references, bounded by token budget</a:t>
            </a:r>
            <a:endParaRPr lang="en-US" sz="1190" dirty="0"/>
          </a:p>
        </p:txBody>
      </p:sp>
      <p:sp>
        <p:nvSpPr>
          <p:cNvPr id="43" name="Shape 41"/>
          <p:cNvSpPr/>
          <p:nvPr/>
        </p:nvSpPr>
        <p:spPr>
          <a:xfrm>
            <a:off x="6748272" y="3099816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6574536" y="3328416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6574536" y="3337560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031736" y="3319272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1 LLM</a:t>
            </a:r>
            <a:endParaRPr lang="en-US" sz="1480" dirty="0"/>
          </a:p>
        </p:txBody>
      </p:sp>
      <p:sp>
        <p:nvSpPr>
          <p:cNvPr id="47" name="Text 45"/>
          <p:cNvSpPr/>
          <p:nvPr/>
        </p:nvSpPr>
        <p:spPr>
          <a:xfrm>
            <a:off x="8375904" y="3323844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cause and pick at most one approved diagnostic</a:t>
            </a:r>
            <a:endParaRPr lang="en-US" sz="1190" dirty="0"/>
          </a:p>
        </p:txBody>
      </p:sp>
      <p:sp>
        <p:nvSpPr>
          <p:cNvPr id="48" name="Shape 46"/>
          <p:cNvSpPr/>
          <p:nvPr/>
        </p:nvSpPr>
        <p:spPr>
          <a:xfrm>
            <a:off x="6748272" y="3712464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6574536" y="3941064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6574536" y="3950208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031736" y="3931920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Python</a:t>
            </a:r>
            <a:endParaRPr lang="en-US" sz="1480" dirty="0"/>
          </a:p>
        </p:txBody>
      </p:sp>
      <p:sp>
        <p:nvSpPr>
          <p:cNvPr id="52" name="Text 50"/>
          <p:cNvSpPr/>
          <p:nvPr/>
        </p:nvSpPr>
        <p:spPr>
          <a:xfrm>
            <a:off x="8375904" y="3936492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GC/query timeline, indexing, ZooKeeper or error breakdown</a:t>
            </a:r>
            <a:endParaRPr lang="en-US" sz="1190" dirty="0"/>
          </a:p>
        </p:txBody>
      </p:sp>
      <p:sp>
        <p:nvSpPr>
          <p:cNvPr id="53" name="Shape 51"/>
          <p:cNvSpPr/>
          <p:nvPr/>
        </p:nvSpPr>
        <p:spPr>
          <a:xfrm>
            <a:off x="6748272" y="4325112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Shape 52"/>
          <p:cNvSpPr/>
          <p:nvPr/>
        </p:nvSpPr>
        <p:spPr>
          <a:xfrm>
            <a:off x="6574536" y="4553712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3"/>
          <p:cNvSpPr/>
          <p:nvPr/>
        </p:nvSpPr>
        <p:spPr>
          <a:xfrm>
            <a:off x="6574536" y="4562856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400" dirty="0"/>
          </a:p>
        </p:txBody>
      </p:sp>
      <p:sp>
        <p:nvSpPr>
          <p:cNvPr id="56" name="Text 54"/>
          <p:cNvSpPr/>
          <p:nvPr/>
        </p:nvSpPr>
        <p:spPr>
          <a:xfrm>
            <a:off x="7031736" y="4544568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2 LLM</a:t>
            </a:r>
            <a:endParaRPr lang="en-US" sz="1480" dirty="0"/>
          </a:p>
        </p:txBody>
      </p:sp>
      <p:sp>
        <p:nvSpPr>
          <p:cNvPr id="57" name="Text 55"/>
          <p:cNvSpPr/>
          <p:nvPr/>
        </p:nvSpPr>
        <p:spPr>
          <a:xfrm>
            <a:off x="8375904" y="4549140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Evidence-grounded RCA + impact + operator checks</a:t>
            </a:r>
            <a:endParaRPr lang="en-US" sz="1190" dirty="0"/>
          </a:p>
        </p:txBody>
      </p:sp>
      <p:sp>
        <p:nvSpPr>
          <p:cNvPr id="58" name="Shape 56"/>
          <p:cNvSpPr/>
          <p:nvPr/>
        </p:nvSpPr>
        <p:spPr>
          <a:xfrm>
            <a:off x="6748272" y="4937760"/>
            <a:ext cx="0" cy="192024"/>
          </a:xfrm>
          <a:prstGeom prst="line">
            <a:avLst/>
          </a:prstGeom>
          <a:noFill/>
          <a:ln w="1905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74536" y="5166360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574536" y="5175504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031736" y="5157216"/>
            <a:ext cx="1335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48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/ fallback</a:t>
            </a:r>
            <a:endParaRPr lang="en-US" sz="1480" dirty="0"/>
          </a:p>
        </p:txBody>
      </p:sp>
      <p:sp>
        <p:nvSpPr>
          <p:cNvPr id="62" name="Text 60"/>
          <p:cNvSpPr/>
          <p:nvPr/>
        </p:nvSpPr>
        <p:spPr>
          <a:xfrm>
            <a:off x="8375904" y="5161788"/>
            <a:ext cx="290779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Check schema &amp; citations; else return deterministic answer</a:t>
            </a:r>
            <a:endParaRPr lang="en-US" sz="1190" dirty="0"/>
          </a:p>
        </p:txBody>
      </p:sp>
      <p:sp>
        <p:nvSpPr>
          <p:cNvPr id="63" name="Shape 61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SURFACES: STREAMLIT DASHBOARD  •  HEADLESS CLI  •  PERIODIC WATCH MODE  •  OPTIONAL SQLITE</a:t>
            </a:r>
            <a:endParaRPr lang="en-US" sz="9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04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ASSUMPTIONS AND DECISIONS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 assumed—and why I designed it this way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 prioritized a defensible same-day prototype over a production-complete observability platform.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103120"/>
            <a:ext cx="5431536" cy="4133088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245352" y="2103120"/>
            <a:ext cx="5303520" cy="4133088"/>
          </a:xfrm>
          <a:prstGeom prst="roundRect">
            <a:avLst>
              <a:gd name="adj" fmla="val 354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14400" y="2313432"/>
            <a:ext cx="1463040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96696" y="2354580"/>
            <a:ext cx="129844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ASSUMPTIONS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6528816" y="2313432"/>
            <a:ext cx="1956816" cy="301752"/>
          </a:xfrm>
          <a:prstGeom prst="roundRect">
            <a:avLst>
              <a:gd name="adj" fmla="val 48485"/>
            </a:avLst>
          </a:prstGeom>
          <a:solidFill>
            <a:srgbClr val="E7F7F3"/>
          </a:solidFill>
          <a:ln w="1143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611112" y="2354580"/>
            <a:ext cx="17922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 DECISIONS</a:t>
            </a:r>
            <a:endParaRPr lang="en-US" sz="1030" dirty="0"/>
          </a:p>
        </p:txBody>
      </p:sp>
      <p:sp>
        <p:nvSpPr>
          <p:cNvPr id="15" name="Shape 13"/>
          <p:cNvSpPr/>
          <p:nvPr/>
        </p:nvSpPr>
        <p:spPr>
          <a:xfrm>
            <a:off x="914400" y="2779776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14400" y="2788920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08176" y="2752344"/>
            <a:ext cx="4434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demo, not customer logs</a:t>
            </a:r>
            <a:endParaRPr lang="en-US" sz="1630" dirty="0"/>
          </a:p>
        </p:txBody>
      </p:sp>
      <p:sp>
        <p:nvSpPr>
          <p:cNvPr id="18" name="Text 16"/>
          <p:cNvSpPr/>
          <p:nvPr/>
        </p:nvSpPr>
        <p:spPr>
          <a:xfrm>
            <a:off x="1408176" y="3108960"/>
            <a:ext cx="4334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nodes; separate Solr and GC files coupled by one simulated node state.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23544" y="3703320"/>
            <a:ext cx="4855464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914400" y="3849624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914400" y="3858768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08176" y="3822192"/>
            <a:ext cx="4434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Log-derived view, not live truth</a:t>
            </a:r>
            <a:endParaRPr lang="en-US" sz="1630" dirty="0"/>
          </a:p>
        </p:txBody>
      </p:sp>
      <p:sp>
        <p:nvSpPr>
          <p:cNvPr id="23" name="Text 21"/>
          <p:cNvSpPr/>
          <p:nvPr/>
        </p:nvSpPr>
        <p:spPr>
          <a:xfrm>
            <a:off x="1408176" y="4178808"/>
            <a:ext cx="4334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 and impact are inferred; liveness and business impact are not verified.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3544" y="4773168"/>
            <a:ext cx="4855464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14400" y="4919472"/>
            <a:ext cx="347472" cy="347472"/>
          </a:xfrm>
          <a:prstGeom prst="ellipse">
            <a:avLst/>
          </a:prstGeom>
          <a:solidFill>
            <a:srgbClr val="385DD7"/>
          </a:solidFill>
          <a:ln w="12700">
            <a:solidFill>
              <a:srgbClr val="385DD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914400" y="4928616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408176" y="4892040"/>
            <a:ext cx="443484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Approximate, supplied topology</a:t>
            </a:r>
            <a:endParaRPr lang="en-US" sz="1630" dirty="0"/>
          </a:p>
        </p:txBody>
      </p:sp>
      <p:sp>
        <p:nvSpPr>
          <p:cNvPr id="28" name="Text 26"/>
          <p:cNvSpPr/>
          <p:nvPr/>
        </p:nvSpPr>
        <p:spPr>
          <a:xfrm>
            <a:off x="1408176" y="5248656"/>
            <a:ext cx="43342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ZooKeeper dependency and replica mapping inform grouping.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519672" y="2779776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19672" y="2788920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013448" y="2752344"/>
            <a:ext cx="4306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signal extraction</a:t>
            </a:r>
            <a:endParaRPr lang="en-US" sz="1630" dirty="0"/>
          </a:p>
        </p:txBody>
      </p:sp>
      <p:sp>
        <p:nvSpPr>
          <p:cNvPr id="32" name="Text 30"/>
          <p:cNvSpPr/>
          <p:nvPr/>
        </p:nvSpPr>
        <p:spPr>
          <a:xfrm>
            <a:off x="7013448" y="31089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Auditable rules + relative shifts (MAD/CUSUM), not LLM-only detection.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528816" y="3703320"/>
            <a:ext cx="4727448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6519672" y="3849624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6519672" y="3858768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013448" y="3822192"/>
            <a:ext cx="4306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Conservative incident grouping</a:t>
            </a:r>
            <a:endParaRPr lang="en-US" sz="1630" dirty="0"/>
          </a:p>
        </p:txBody>
      </p:sp>
      <p:sp>
        <p:nvSpPr>
          <p:cNvPr id="37" name="Text 35"/>
          <p:cNvSpPr/>
          <p:nvPr/>
        </p:nvSpPr>
        <p:spPr>
          <a:xfrm>
            <a:off x="7013448" y="41788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DSU edges require compatible fault families and short time windows.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528816" y="4773168"/>
            <a:ext cx="4727448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519672" y="4919472"/>
            <a:ext cx="347472" cy="347472"/>
          </a:xfrm>
          <a:prstGeom prst="ellipse">
            <a:avLst/>
          </a:prstGeom>
          <a:solidFill>
            <a:srgbClr val="008A82"/>
          </a:solidFill>
          <a:ln w="12700">
            <a:solidFill>
              <a:srgbClr val="008A8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6519672" y="4928616"/>
            <a:ext cx="3474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013448" y="4892040"/>
            <a:ext cx="430682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6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Bounded and reviewable AI</a:t>
            </a:r>
            <a:endParaRPr lang="en-US" sz="1630" dirty="0"/>
          </a:p>
        </p:txBody>
      </p:sp>
      <p:sp>
        <p:nvSpPr>
          <p:cNvPr id="42" name="Text 40"/>
          <p:cNvSpPr/>
          <p:nvPr/>
        </p:nvSpPr>
        <p:spPr>
          <a:xfrm>
            <a:off x="7013448" y="52486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allowlisted diagnostic; source IDs validated; no auto-remediation.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KNOWN GAPS: NO LIVE SOLR API  •  NO DURABLE STREAM CHECKPOINTS  •  NO INDEPENDENT PRODUCTION ACCURACY ESTIMATE</a:t>
            </a:r>
            <a:endParaRPr lang="en-US" sz="9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05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ARCHITECTURE FLOWCHART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raw logs to reviewable RCA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optional AI path starts only when the operator selects an incident.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57784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85800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68096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685800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SOURCES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685800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Solr + JVM GC logs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demo nodes</a:t>
            </a:r>
            <a:endParaRPr lang="en-US" sz="1090" dirty="0"/>
          </a:p>
        </p:txBody>
      </p:sp>
      <p:sp>
        <p:nvSpPr>
          <p:cNvPr id="14" name="Shape 12"/>
          <p:cNvSpPr/>
          <p:nvPr/>
        </p:nvSpPr>
        <p:spPr>
          <a:xfrm>
            <a:off x="2308860" y="2798064"/>
            <a:ext cx="534924" cy="0"/>
          </a:xfrm>
          <a:prstGeom prst="line">
            <a:avLst/>
          </a:prstGeom>
          <a:noFill/>
          <a:ln w="26670">
            <a:solidFill>
              <a:srgbClr val="385DD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907792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035808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118104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30" dirty="0"/>
          </a:p>
        </p:txBody>
      </p:sp>
      <p:sp>
        <p:nvSpPr>
          <p:cNvPr id="18" name="Text 16"/>
          <p:cNvSpPr/>
          <p:nvPr/>
        </p:nvSpPr>
        <p:spPr>
          <a:xfrm>
            <a:off x="3035808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NORMALIZE</a:t>
            </a:r>
            <a:endParaRPr lang="en-US" sz="1320" dirty="0"/>
          </a:p>
        </p:txBody>
      </p:sp>
      <p:sp>
        <p:nvSpPr>
          <p:cNvPr id="19" name="Text 17"/>
          <p:cNvSpPr/>
          <p:nvPr/>
        </p:nvSpPr>
        <p:spPr>
          <a:xfrm>
            <a:off x="3035808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parser.py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Timestamp + event IDs</a:t>
            </a:r>
            <a:endParaRPr lang="en-US" sz="1090" dirty="0"/>
          </a:p>
        </p:txBody>
      </p:sp>
      <p:sp>
        <p:nvSpPr>
          <p:cNvPr id="20" name="Shape 18"/>
          <p:cNvSpPr/>
          <p:nvPr/>
        </p:nvSpPr>
        <p:spPr>
          <a:xfrm>
            <a:off x="4658868" y="2798064"/>
            <a:ext cx="525780" cy="0"/>
          </a:xfrm>
          <a:prstGeom prst="line">
            <a:avLst/>
          </a:prstGeom>
          <a:noFill/>
          <a:ln w="26670">
            <a:solidFill>
              <a:srgbClr val="385DD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248656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5376672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458968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30" dirty="0"/>
          </a:p>
        </p:txBody>
      </p:sp>
      <p:sp>
        <p:nvSpPr>
          <p:cNvPr id="24" name="Text 22"/>
          <p:cNvSpPr/>
          <p:nvPr/>
        </p:nvSpPr>
        <p:spPr>
          <a:xfrm>
            <a:off x="5376672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DETECT</a:t>
            </a:r>
            <a:endParaRPr lang="en-US" sz="1320" dirty="0"/>
          </a:p>
        </p:txBody>
      </p:sp>
      <p:sp>
        <p:nvSpPr>
          <p:cNvPr id="25" name="Text 23"/>
          <p:cNvSpPr/>
          <p:nvPr/>
        </p:nvSpPr>
        <p:spPr>
          <a:xfrm>
            <a:off x="5376672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 rules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 + CUSUM</a:t>
            </a:r>
            <a:endParaRPr lang="en-US" sz="1090" dirty="0"/>
          </a:p>
        </p:txBody>
      </p:sp>
      <p:sp>
        <p:nvSpPr>
          <p:cNvPr id="26" name="Shape 24"/>
          <p:cNvSpPr/>
          <p:nvPr/>
        </p:nvSpPr>
        <p:spPr>
          <a:xfrm>
            <a:off x="6999732" y="2798064"/>
            <a:ext cx="534924" cy="0"/>
          </a:xfrm>
          <a:prstGeom prst="line">
            <a:avLst/>
          </a:prstGeom>
          <a:noFill/>
          <a:ln w="26670">
            <a:solidFill>
              <a:srgbClr val="385DD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7598664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7726680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EEF3FF"/>
          </a:solidFill>
          <a:ln w="11430">
            <a:solidFill>
              <a:srgbClr val="EEF3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808976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30" dirty="0"/>
          </a:p>
        </p:txBody>
      </p:sp>
      <p:sp>
        <p:nvSpPr>
          <p:cNvPr id="30" name="Text 28"/>
          <p:cNvSpPr/>
          <p:nvPr/>
        </p:nvSpPr>
        <p:spPr>
          <a:xfrm>
            <a:off x="7726680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CORRELATE</a:t>
            </a:r>
            <a:endParaRPr lang="en-US" sz="1320" dirty="0"/>
          </a:p>
        </p:txBody>
      </p:sp>
      <p:sp>
        <p:nvSpPr>
          <p:cNvPr id="31" name="Text 29"/>
          <p:cNvSpPr/>
          <p:nvPr/>
        </p:nvSpPr>
        <p:spPr>
          <a:xfrm>
            <a:off x="7726680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DSU: time / family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 ZK</a:t>
            </a:r>
            <a:endParaRPr lang="en-US" sz="1090" dirty="0"/>
          </a:p>
        </p:txBody>
      </p:sp>
      <p:sp>
        <p:nvSpPr>
          <p:cNvPr id="32" name="Shape 30"/>
          <p:cNvSpPr/>
          <p:nvPr/>
        </p:nvSpPr>
        <p:spPr>
          <a:xfrm>
            <a:off x="9349740" y="2798064"/>
            <a:ext cx="534924" cy="0"/>
          </a:xfrm>
          <a:prstGeom prst="line">
            <a:avLst/>
          </a:prstGeom>
          <a:noFill/>
          <a:ln w="26670">
            <a:solidFill>
              <a:srgbClr val="385DD7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9948672" y="2139696"/>
            <a:ext cx="1719072" cy="1271016"/>
          </a:xfrm>
          <a:prstGeom prst="roundRect">
            <a:avLst>
              <a:gd name="adj" fmla="val 11511"/>
            </a:avLst>
          </a:prstGeom>
          <a:solidFill>
            <a:srgbClr val="142644"/>
          </a:solidFill>
          <a:ln w="1143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>
            <a:off x="10076688" y="2249424"/>
            <a:ext cx="429768" cy="301752"/>
          </a:xfrm>
          <a:prstGeom prst="roundRect">
            <a:avLst>
              <a:gd name="adj" fmla="val 48485"/>
            </a:avLst>
          </a:prstGeom>
          <a:solidFill>
            <a:srgbClr val="354C7D"/>
          </a:solidFill>
          <a:ln w="11430">
            <a:solidFill>
              <a:srgbClr val="354C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10158984" y="2290572"/>
            <a:ext cx="26517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030" dirty="0"/>
          </a:p>
        </p:txBody>
      </p:sp>
      <p:sp>
        <p:nvSpPr>
          <p:cNvPr id="36" name="Text 34"/>
          <p:cNvSpPr/>
          <p:nvPr/>
        </p:nvSpPr>
        <p:spPr>
          <a:xfrm>
            <a:off x="10076688" y="2642616"/>
            <a:ext cx="14630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</a:t>
            </a:r>
            <a:endParaRPr lang="en-US" sz="1320" dirty="0"/>
          </a:p>
        </p:txBody>
      </p:sp>
      <p:sp>
        <p:nvSpPr>
          <p:cNvPr id="37" name="Text 35"/>
          <p:cNvSpPr/>
          <p:nvPr/>
        </p:nvSpPr>
        <p:spPr>
          <a:xfrm>
            <a:off x="10076688" y="2916936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CCD9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+ severity</a:t>
            </a:r>
            <a:endParaRPr lang="en-US" sz="1090" dirty="0"/>
          </a:p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CCD9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 RCA</a:t>
            </a:r>
            <a:endParaRPr lang="en-US" sz="1090" dirty="0"/>
          </a:p>
        </p:txBody>
      </p:sp>
      <p:sp>
        <p:nvSpPr>
          <p:cNvPr id="38" name="Shape 36"/>
          <p:cNvSpPr/>
          <p:nvPr/>
        </p:nvSpPr>
        <p:spPr>
          <a:xfrm>
            <a:off x="557784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85800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85800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 dossier</a:t>
            </a:r>
            <a:endParaRPr lang="en-US" sz="1330" dirty="0"/>
          </a:p>
        </p:txBody>
      </p:sp>
      <p:sp>
        <p:nvSpPr>
          <p:cNvPr id="41" name="Text 39"/>
          <p:cNvSpPr/>
          <p:nvPr/>
        </p:nvSpPr>
        <p:spPr>
          <a:xfrm>
            <a:off x="685800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excerpts</a:t>
            </a:r>
            <a:endParaRPr lang="en-US" sz="1090" dirty="0"/>
          </a:p>
        </p:txBody>
      </p:sp>
      <p:sp>
        <p:nvSpPr>
          <p:cNvPr id="42" name="Shape 40"/>
          <p:cNvSpPr/>
          <p:nvPr/>
        </p:nvSpPr>
        <p:spPr>
          <a:xfrm>
            <a:off x="2308860" y="5074920"/>
            <a:ext cx="534924" cy="0"/>
          </a:xfrm>
          <a:prstGeom prst="line">
            <a:avLst/>
          </a:prstGeom>
          <a:noFill/>
          <a:ln w="2540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2907792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3035808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#1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3035808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Hypothesis + tool</a:t>
            </a:r>
            <a:endParaRPr lang="en-US" sz="1330" dirty="0"/>
          </a:p>
        </p:txBody>
      </p:sp>
      <p:sp>
        <p:nvSpPr>
          <p:cNvPr id="46" name="Text 44"/>
          <p:cNvSpPr/>
          <p:nvPr/>
        </p:nvSpPr>
        <p:spPr>
          <a:xfrm>
            <a:off x="3035808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allowlist only</a:t>
            </a:r>
            <a:endParaRPr lang="en-US" sz="1090" dirty="0"/>
          </a:p>
        </p:txBody>
      </p:sp>
      <p:sp>
        <p:nvSpPr>
          <p:cNvPr id="47" name="Shape 45"/>
          <p:cNvSpPr/>
          <p:nvPr/>
        </p:nvSpPr>
        <p:spPr>
          <a:xfrm>
            <a:off x="4658868" y="5074920"/>
            <a:ext cx="525780" cy="0"/>
          </a:xfrm>
          <a:prstGeom prst="line">
            <a:avLst/>
          </a:prstGeom>
          <a:noFill/>
          <a:ln w="2540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5248656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5376672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PYTHON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5376672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check</a:t>
            </a:r>
            <a:endParaRPr lang="en-US" sz="1330" dirty="0"/>
          </a:p>
        </p:txBody>
      </p:sp>
      <p:sp>
        <p:nvSpPr>
          <p:cNvPr id="51" name="Text 49"/>
          <p:cNvSpPr/>
          <p:nvPr/>
        </p:nvSpPr>
        <p:spPr>
          <a:xfrm>
            <a:off x="5376672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in-memory events</a:t>
            </a:r>
            <a:endParaRPr lang="en-US" sz="1090" dirty="0"/>
          </a:p>
        </p:txBody>
      </p:sp>
      <p:sp>
        <p:nvSpPr>
          <p:cNvPr id="52" name="Shape 50"/>
          <p:cNvSpPr/>
          <p:nvPr/>
        </p:nvSpPr>
        <p:spPr>
          <a:xfrm>
            <a:off x="6999732" y="5074920"/>
            <a:ext cx="534924" cy="0"/>
          </a:xfrm>
          <a:prstGeom prst="line">
            <a:avLst/>
          </a:prstGeom>
          <a:noFill/>
          <a:ln w="2540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>
            <a:off x="7598664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7726680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#2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726680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Reassess RCA</a:t>
            </a:r>
            <a:endParaRPr lang="en-US" sz="1330" dirty="0"/>
          </a:p>
        </p:txBody>
      </p:sp>
      <p:sp>
        <p:nvSpPr>
          <p:cNvPr id="56" name="Text 54"/>
          <p:cNvSpPr/>
          <p:nvPr/>
        </p:nvSpPr>
        <p:spPr>
          <a:xfrm>
            <a:off x="7726680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 + diagnostics</a:t>
            </a:r>
            <a:endParaRPr lang="en-US" sz="1090" dirty="0"/>
          </a:p>
        </p:txBody>
      </p:sp>
      <p:sp>
        <p:nvSpPr>
          <p:cNvPr id="57" name="Shape 55"/>
          <p:cNvSpPr/>
          <p:nvPr/>
        </p:nvSpPr>
        <p:spPr>
          <a:xfrm>
            <a:off x="9349740" y="5074920"/>
            <a:ext cx="534924" cy="0"/>
          </a:xfrm>
          <a:prstGeom prst="line">
            <a:avLst/>
          </a:prstGeom>
          <a:noFill/>
          <a:ln w="2540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9948672" y="4489704"/>
            <a:ext cx="1719072" cy="1143000"/>
          </a:xfrm>
          <a:prstGeom prst="roundRect">
            <a:avLst>
              <a:gd name="adj" fmla="val 12800"/>
            </a:avLst>
          </a:prstGeom>
          <a:solidFill>
            <a:srgbClr val="E7F7F3"/>
          </a:solidFill>
          <a:ln w="11430">
            <a:solidFill>
              <a:srgbClr val="B7E8D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10076688" y="46177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</a:t>
            </a:r>
            <a:endParaRPr lang="en-US" sz="1300" dirty="0"/>
          </a:p>
        </p:txBody>
      </p:sp>
      <p:sp>
        <p:nvSpPr>
          <p:cNvPr id="60" name="Text 58"/>
          <p:cNvSpPr/>
          <p:nvPr/>
        </p:nvSpPr>
        <p:spPr>
          <a:xfrm>
            <a:off x="10076688" y="4928616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3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Citations / JSON</a:t>
            </a:r>
            <a:endParaRPr lang="en-US" sz="1330" dirty="0"/>
          </a:p>
        </p:txBody>
      </p:sp>
      <p:sp>
        <p:nvSpPr>
          <p:cNvPr id="61" name="Text 59"/>
          <p:cNvSpPr/>
          <p:nvPr/>
        </p:nvSpPr>
        <p:spPr>
          <a:xfrm>
            <a:off x="10076688" y="5266944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9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or fallback</a:t>
            </a:r>
            <a:endParaRPr lang="en-US" sz="1090" dirty="0"/>
          </a:p>
        </p:txBody>
      </p:sp>
      <p:sp>
        <p:nvSpPr>
          <p:cNvPr id="62" name="Shape 60"/>
          <p:cNvSpPr/>
          <p:nvPr/>
        </p:nvSpPr>
        <p:spPr>
          <a:xfrm>
            <a:off x="10808208" y="3410712"/>
            <a:ext cx="0" cy="448056"/>
          </a:xfrm>
          <a:prstGeom prst="line">
            <a:avLst/>
          </a:prstGeom>
          <a:noFill/>
          <a:ln w="20320">
            <a:solidFill>
              <a:srgbClr val="97ABC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Shape 61"/>
          <p:cNvSpPr/>
          <p:nvPr/>
        </p:nvSpPr>
        <p:spPr>
          <a:xfrm>
            <a:off x="10808208" y="3858768"/>
            <a:ext cx="0" cy="0"/>
          </a:xfrm>
          <a:prstGeom prst="line">
            <a:avLst/>
          </a:prstGeom>
          <a:noFill/>
          <a:ln w="20320">
            <a:solidFill>
              <a:srgbClr val="97ABC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4" name="Shape 62"/>
          <p:cNvSpPr/>
          <p:nvPr/>
        </p:nvSpPr>
        <p:spPr>
          <a:xfrm>
            <a:off x="1444752" y="3858768"/>
            <a:ext cx="0" cy="576072"/>
          </a:xfrm>
          <a:prstGeom prst="line">
            <a:avLst/>
          </a:prstGeom>
          <a:noFill/>
          <a:ln w="22860">
            <a:solidFill>
              <a:srgbClr val="008A8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5" name="Shape 63"/>
          <p:cNvSpPr/>
          <p:nvPr/>
        </p:nvSpPr>
        <p:spPr>
          <a:xfrm>
            <a:off x="4270248" y="3717036"/>
            <a:ext cx="3136392" cy="301752"/>
          </a:xfrm>
          <a:prstGeom prst="roundRect">
            <a:avLst>
              <a:gd name="adj" fmla="val 48485"/>
            </a:avLst>
          </a:prstGeom>
          <a:solidFill>
            <a:srgbClr val="F6F8FC"/>
          </a:solidFill>
          <a:ln w="11430">
            <a:solidFill>
              <a:srgbClr val="F6F8F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4270248" y="3739896"/>
            <a:ext cx="3136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OPTIONAL • OPERATOR-TRIGGERED AI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BOUNDARY: DIAGNOSTIC READS PARSED EVENTS ONLY; MODEL CANNOT ISSUE SHELL COMMANDS OR MODIFY THE CLUSTER</a:t>
            </a:r>
            <a:endParaRPr lang="en-US" sz="9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0936" y="256032"/>
            <a:ext cx="64008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385DD7"/>
                </a:solidFill>
                <a:latin typeface="Aptos"/>
              </a:rPr>
              <a:t>USEREADY  /  AI ENGINEER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8208" y="256032"/>
            <a:ext cx="79552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1718A"/>
                </a:solidFill>
                <a:latin typeface="Aptos"/>
              </a:rPr>
              <a:t>06  /  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5216" y="640080"/>
            <a:ext cx="11018520" cy="0"/>
          </a:xfrm>
          <a:prstGeom prst="line">
            <a:avLst/>
          </a:prstGeom>
          <a:ln w="10160">
            <a:solidFill>
              <a:srgbClr val="DF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0936" y="795528"/>
            <a:ext cx="100584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008A82"/>
                </a:solidFill>
                <a:latin typeface="Aptos"/>
              </a:rPr>
              <a:t>LLM ESCALATION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1088136"/>
            <a:ext cx="1088136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80" b="1">
                <a:solidFill>
                  <a:srgbClr val="142644"/>
                </a:solidFill>
                <a:latin typeface="Aptos"/>
              </a:rPr>
              <a:t>Why the LLM does not read every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655064"/>
            <a:ext cx="1088136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10" b="0">
                <a:solidFill>
                  <a:srgbClr val="61718A"/>
                </a:solidFill>
                <a:latin typeface="Aptos"/>
              </a:rPr>
              <a:t>The deterministic pipeline runs on every batch; AI is invoked only when a user requests deeper investigation.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" y="6519672"/>
            <a:ext cx="11009376" cy="0"/>
          </a:xfrm>
          <a:prstGeom prst="line">
            <a:avLst/>
          </a:prstGeom>
          <a:ln w="10160">
            <a:solidFill>
              <a:srgbClr val="DF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574536"/>
            <a:ext cx="1088136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1718A"/>
                </a:solidFill>
                <a:latin typeface="Aptos"/>
              </a:rPr>
              <a:t>IMPLEMENTED NOW: USER-TRIGGERED ESCALATION  •  FUTURE: EVIDENCE/UNCERTAINTY-BASED AUTO-ROUTING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148840"/>
            <a:ext cx="2523744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2276856"/>
            <a:ext cx="225856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385DD7"/>
                </a:solidFill>
                <a:latin typeface="Aptos"/>
              </a:rPr>
              <a:t>01  INGEST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587752"/>
            <a:ext cx="22860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Solr + JVM GC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32888"/>
            <a:ext cx="329184" cy="0"/>
          </a:xfrm>
          <a:prstGeom prst="line">
            <a:avLst/>
          </a:prstGeom>
          <a:ln w="21590">
            <a:solidFill>
              <a:srgbClr val="385D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319272" y="2340864"/>
            <a:ext cx="1828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85DD7"/>
                </a:solidFill>
                <a:latin typeface="Aptos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9584" y="2148840"/>
            <a:ext cx="2523744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75888" y="2276856"/>
            <a:ext cx="225856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385DD7"/>
                </a:solidFill>
                <a:latin typeface="Aptos"/>
              </a:rPr>
              <a:t>02  DETECT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8" y="2587752"/>
            <a:ext cx="22860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MAD / CUSUM + rules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3328" y="2532888"/>
            <a:ext cx="329184" cy="0"/>
          </a:xfrm>
          <a:prstGeom prst="line">
            <a:avLst/>
          </a:prstGeom>
          <a:ln w="21590">
            <a:solidFill>
              <a:srgbClr val="385D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172200" y="2340864"/>
            <a:ext cx="1828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85DD7"/>
                </a:solidFill>
                <a:latin typeface="Aptos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82512" y="2148840"/>
            <a:ext cx="2523744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28816" y="2276856"/>
            <a:ext cx="225856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385DD7"/>
                </a:solidFill>
                <a:latin typeface="Aptos"/>
              </a:rPr>
              <a:t>03  CORRELATE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816" y="2587752"/>
            <a:ext cx="22860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DSU + topology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06256" y="2532888"/>
            <a:ext cx="329184" cy="0"/>
          </a:xfrm>
          <a:prstGeom prst="line">
            <a:avLst/>
          </a:prstGeom>
          <a:ln w="21590">
            <a:solidFill>
              <a:srgbClr val="385D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025128" y="2340864"/>
            <a:ext cx="18288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385DD7"/>
                </a:solidFill>
                <a:latin typeface="Aptos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2148840"/>
            <a:ext cx="2523744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81744" y="2276856"/>
            <a:ext cx="2258568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385DD7"/>
                </a:solidFill>
                <a:latin typeface="Aptos"/>
              </a:rPr>
              <a:t>04  EXPLAIN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1744" y="2587752"/>
            <a:ext cx="22860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Deterministic RCA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0058400" y="2916936"/>
            <a:ext cx="0" cy="374904"/>
          </a:xfrm>
          <a:prstGeom prst="line">
            <a:avLst/>
          </a:prstGeom>
          <a:ln w="19050">
            <a:solidFill>
              <a:srgbClr val="8BA4C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982712" y="3319272"/>
            <a:ext cx="3227832" cy="530352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83296" y="3410712"/>
            <a:ext cx="301752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385DD7"/>
                </a:solidFill>
                <a:latin typeface="Aptos"/>
              </a:rPr>
              <a:t>Operator requests AI?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75904" y="3849624"/>
            <a:ext cx="0" cy="338328"/>
          </a:xfrm>
          <a:prstGeom prst="line">
            <a:avLst/>
          </a:prstGeom>
          <a:ln w="17780">
            <a:solidFill>
              <a:srgbClr val="008A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88752" y="3849624"/>
            <a:ext cx="0" cy="338328"/>
          </a:xfrm>
          <a:prstGeom prst="line">
            <a:avLst/>
          </a:prstGeom>
          <a:ln w="17780">
            <a:solidFill>
              <a:srgbClr val="385D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050024" y="4187952"/>
            <a:ext cx="2624328" cy="859536"/>
          </a:xfrm>
          <a:prstGeom prst="roundRect">
            <a:avLst>
              <a:gd name="adj" fmla="val 12000"/>
            </a:avLst>
          </a:prstGeom>
          <a:solidFill>
            <a:srgbClr val="E7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05472" y="4306824"/>
            <a:ext cx="2340864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8A82"/>
                </a:solidFill>
                <a:latin typeface="Aptos"/>
              </a:rPr>
              <a:t>NO  →  Stop here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32904" y="4617720"/>
            <a:ext cx="2267712" cy="26517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61718A"/>
                </a:solidFill>
                <a:latin typeface="Aptos"/>
              </a:rPr>
              <a:t>No token cost; RCA shown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93808" y="4187952"/>
            <a:ext cx="1810512" cy="859536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985248" y="4315968"/>
            <a:ext cx="1627632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385DD7"/>
                </a:solidFill>
                <a:latin typeface="Aptos"/>
              </a:rPr>
              <a:t>YES  →  LLM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12680" y="4617720"/>
            <a:ext cx="1536192" cy="25603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61718A"/>
                </a:solidFill>
                <a:latin typeface="Aptos"/>
              </a:rPr>
              <a:t>2-stage + diagnostic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85800" y="3300984"/>
            <a:ext cx="5961888" cy="2240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">
            <a:solidFill>
              <a:srgbClr val="DFE6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4400" y="3520440"/>
            <a:ext cx="5394960" cy="28346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70" b="1">
                <a:solidFill>
                  <a:srgbClr val="142644"/>
                </a:solidFill>
                <a:latin typeface="Aptos"/>
              </a:rPr>
              <a:t>Why this is the better first-pass design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256" y="3986783"/>
            <a:ext cx="109728" cy="109728"/>
          </a:xfrm>
          <a:prstGeom prst="roundRect">
            <a:avLst>
              <a:gd name="adj" fmla="val 12000"/>
            </a:avLst>
          </a:prstGeom>
          <a:solidFill>
            <a:srgbClr val="008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15568" y="3941063"/>
            <a:ext cx="1353312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008A82"/>
                </a:solidFill>
                <a:latin typeface="Aptos"/>
              </a:rPr>
              <a:t>COST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3941063"/>
            <a:ext cx="3776472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61718A"/>
                </a:solidFill>
                <a:latin typeface="Aptos"/>
              </a:rPr>
              <a:t>Avoid sending every noisy event to a paid API.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5256" y="4471416"/>
            <a:ext cx="109728" cy="109728"/>
          </a:xfrm>
          <a:prstGeom prst="roundRect">
            <a:avLst>
              <a:gd name="adj" fmla="val 12000"/>
            </a:avLst>
          </a:prstGeom>
          <a:solidFill>
            <a:srgbClr val="008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115568" y="4425696"/>
            <a:ext cx="1353312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008A82"/>
                </a:solidFill>
                <a:latin typeface="Aptos"/>
              </a:rPr>
              <a:t>RELIABILITY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4600" y="4425696"/>
            <a:ext cx="3776472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61718A"/>
                </a:solidFill>
                <a:latin typeface="Aptos"/>
              </a:rPr>
              <a:t>Structured, repeatable rules still work offline.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5256" y="4956047"/>
            <a:ext cx="109728" cy="109728"/>
          </a:xfrm>
          <a:prstGeom prst="roundRect">
            <a:avLst>
              <a:gd name="adj" fmla="val 12000"/>
            </a:avLst>
          </a:prstGeom>
          <a:solidFill>
            <a:srgbClr val="008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15568" y="4910327"/>
            <a:ext cx="1353312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1">
                <a:solidFill>
                  <a:srgbClr val="008A82"/>
                </a:solidFill>
                <a:latin typeface="Aptos"/>
              </a:rPr>
              <a:t>EVIDENCE / SECURITY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514600" y="4910327"/>
            <a:ext cx="3776472" cy="36576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61718A"/>
                </a:solidFill>
                <a:latin typeface="Aptos"/>
              </a:rPr>
              <a:t>Only bounded, authorized log excerpts leave the system if hosted AI is selected.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5800" y="5733288"/>
            <a:ext cx="11000232" cy="521207"/>
          </a:xfrm>
          <a:prstGeom prst="roundRect">
            <a:avLst>
              <a:gd name="adj" fmla="val 12000"/>
            </a:avLst>
          </a:prstGeom>
          <a:solidFill>
            <a:srgbClr val="E9EF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14400" y="5833872"/>
            <a:ext cx="1056132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60" b="1">
                <a:solidFill>
                  <a:srgbClr val="142644"/>
                </a:solidFill>
                <a:latin typeface="Aptos"/>
              </a:rPr>
              <a:t>AI adds value for ambiguous causal hypotheses and operator guidance—not for basic parsing, thresholds or grouping.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82296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30936" y="256032"/>
            <a:ext cx="6400800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70" b="1">
                <a:solidFill>
                  <a:srgbClr val="385DD7"/>
                </a:solidFill>
                <a:latin typeface="Aptos"/>
              </a:rPr>
              <a:t>USEREADY  /  AI ENGINEER CASE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08208" y="256032"/>
            <a:ext cx="795528" cy="219456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1718A"/>
                </a:solidFill>
                <a:latin typeface="Aptos"/>
              </a:rPr>
              <a:t>07  /  09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5216" y="640080"/>
            <a:ext cx="11018520" cy="0"/>
          </a:xfrm>
          <a:prstGeom prst="line">
            <a:avLst/>
          </a:prstGeom>
          <a:ln w="10160">
            <a:solidFill>
              <a:srgbClr val="DF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0936" y="795528"/>
            <a:ext cx="10058400" cy="22860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008A82"/>
                </a:solidFill>
                <a:latin typeface="Aptos"/>
              </a:rPr>
              <a:t>MODEL AND DEPLOYMENT 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1088136"/>
            <a:ext cx="10881360" cy="4389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980" b="1">
                <a:solidFill>
                  <a:srgbClr val="142644"/>
                </a:solidFill>
                <a:latin typeface="Aptos"/>
              </a:rPr>
              <a:t>Hosted speed vs local privacy and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1655064"/>
            <a:ext cx="10881360" cy="29260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10" b="0">
                <a:solidFill>
                  <a:srgbClr val="61718A"/>
                </a:solidFill>
                <a:latin typeface="Aptos"/>
              </a:rPr>
              <a:t>Typically two LLM calls per selected incident (more if retried); any OpenAI-compatible endpoint can be configured.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" y="6519672"/>
            <a:ext cx="11009376" cy="0"/>
          </a:xfrm>
          <a:prstGeom prst="line">
            <a:avLst/>
          </a:prstGeom>
          <a:ln w="10160">
            <a:solidFill>
              <a:srgbClr val="DFE6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0080" y="6574536"/>
            <a:ext cx="10881360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40" b="0">
                <a:solidFill>
                  <a:srgbClr val="61718A"/>
                </a:solidFill>
                <a:latin typeface="Aptos"/>
              </a:rPr>
              <a:t>PRICES: GROQDOCS  •  ALIBABA CLOUD  •  OPENAI API  •  OLLAMA / QWEN3  |  CHECKED 27 OCT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" y="2084831"/>
            <a:ext cx="2395728" cy="50292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" y="2148840"/>
            <a:ext cx="2212848" cy="3931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MODEL / RUNTIME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36392" y="2084831"/>
            <a:ext cx="1883664" cy="50292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36976" y="2148840"/>
            <a:ext cx="1700784" cy="3931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WHERE IT RUNS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2084831"/>
            <a:ext cx="2286000" cy="50292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75504" y="2148840"/>
            <a:ext cx="2103120" cy="3931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API $ / 1M TOKENS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(INPUT / OUTPUT)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2360" y="2084831"/>
            <a:ext cx="4187952" cy="502920"/>
          </a:xfrm>
          <a:prstGeom prst="rect">
            <a:avLst/>
          </a:prstGeom>
          <a:solidFill>
            <a:srgbClr val="142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52944" y="2148840"/>
            <a:ext cx="4005072" cy="3931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TRADE-OFF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596896"/>
            <a:ext cx="10991088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9808" y="2828823"/>
            <a:ext cx="2221992" cy="23108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dirty="0">
                <a:latin typeface="Aptos"/>
              </a:rPr>
              <a:t>Qwen3:8B + </a:t>
            </a:r>
            <a:r>
              <a:rPr sz="1230" b="1" dirty="0" err="1">
                <a:latin typeface="Aptos"/>
              </a:rPr>
              <a:t>Ollama</a:t>
            </a:r>
            <a:endParaRPr sz="1230" b="1" dirty="0"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227832" y="2706624"/>
            <a:ext cx="1709928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dirty="0">
                <a:solidFill>
                  <a:srgbClr val="61718A"/>
                </a:solidFill>
                <a:latin typeface="Aptos"/>
              </a:rPr>
              <a:t>Local machine / private VM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2706624"/>
            <a:ext cx="21122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No per-token API fee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706624"/>
            <a:ext cx="4014215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Privacy + offline use; ~5.2 GB model download, extra RAM; CPU inference may be slow.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3236976"/>
            <a:ext cx="10991088" cy="6400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8952" y="3346704"/>
            <a:ext cx="2221992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Qwen3.5-Flash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7832" y="3346704"/>
            <a:ext cx="1709928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Alibaba hosted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59" y="3346704"/>
            <a:ext cx="21122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$0.029 / $0.287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43800" y="3346704"/>
            <a:ext cx="4014215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Very low token price (global ≤128K tier); external processing, regional tiers.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3877056"/>
            <a:ext cx="10991088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58952" y="4108983"/>
            <a:ext cx="2221992" cy="23108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dirty="0">
                <a:solidFill>
                  <a:srgbClr val="00B050"/>
                </a:solidFill>
                <a:latin typeface="Aptos"/>
              </a:rPr>
              <a:t>GPT-OSS 120B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27832" y="4116101"/>
            <a:ext cx="1709928" cy="2168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dirty="0" err="1">
                <a:solidFill>
                  <a:srgbClr val="00B050"/>
                </a:solidFill>
                <a:latin typeface="Aptos"/>
              </a:rPr>
              <a:t>Groq</a:t>
            </a:r>
            <a:r>
              <a:rPr sz="1140" b="0" dirty="0">
                <a:solidFill>
                  <a:srgbClr val="00B050"/>
                </a:solidFill>
                <a:latin typeface="Aptos"/>
              </a:rPr>
              <a:t> hosted API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66359" y="4108983"/>
            <a:ext cx="2112264" cy="23108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dirty="0">
                <a:solidFill>
                  <a:srgbClr val="00B050"/>
                </a:solidFill>
                <a:latin typeface="Aptos"/>
              </a:rPr>
              <a:t>$0.15 / $0.60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4023126"/>
            <a:ext cx="4014215" cy="40280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 dirty="0">
                <a:solidFill>
                  <a:srgbClr val="00B050"/>
                </a:solidFill>
                <a:latin typeface="Aptos"/>
              </a:rPr>
              <a:t>Recommended in project README: fast API, no local GPU; logs leave environment.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7512" y="4517136"/>
            <a:ext cx="10991088" cy="64008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8952" y="4626864"/>
            <a:ext cx="2221992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 dirty="0">
                <a:solidFill>
                  <a:srgbClr val="142644"/>
                </a:solidFill>
                <a:latin typeface="Aptos"/>
              </a:rPr>
              <a:t>GPT-5 mini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27832" y="4626864"/>
            <a:ext cx="1709928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OpenAI hosted API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66359" y="4626864"/>
            <a:ext cx="2112264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30" b="1">
                <a:solidFill>
                  <a:srgbClr val="142644"/>
                </a:solidFill>
                <a:latin typeface="Aptos"/>
              </a:rPr>
              <a:t>$0.25 / $2.00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4626864"/>
            <a:ext cx="4014215" cy="4754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40" b="0">
                <a:solidFill>
                  <a:srgbClr val="61718A"/>
                </a:solidFill>
                <a:latin typeface="Aptos"/>
              </a:rPr>
              <a:t>Another structured-reasoning option; higher example spend; verify quality empirically.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85800" y="5266944"/>
            <a:ext cx="10991088" cy="822960"/>
          </a:xfrm>
          <a:prstGeom prst="roundRect">
            <a:avLst>
              <a:gd name="adj" fmla="val 12000"/>
            </a:avLst>
          </a:prstGeom>
          <a:solidFill>
            <a:srgbClr val="EE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3544" y="5404104"/>
            <a:ext cx="10442448" cy="237744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42644"/>
                </a:solidFill>
                <a:latin typeface="Aptos"/>
              </a:rPr>
              <a:t>Illustrative 2-stage investigation: 12K input + 2K output tokens total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" y="5705856"/>
            <a:ext cx="10405872" cy="221599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70" b="1" dirty="0">
                <a:solidFill>
                  <a:srgbClr val="385DD7"/>
                </a:solidFill>
                <a:latin typeface="Aptos"/>
              </a:rPr>
              <a:t>Qwen hosted ≈ $0.00092   •   </a:t>
            </a:r>
            <a:r>
              <a:rPr sz="1170" b="1" dirty="0" err="1">
                <a:solidFill>
                  <a:srgbClr val="00B050"/>
                </a:solidFill>
                <a:latin typeface="Aptos"/>
              </a:rPr>
              <a:t>Groq</a:t>
            </a:r>
            <a:r>
              <a:rPr sz="1170" b="1" dirty="0">
                <a:solidFill>
                  <a:srgbClr val="00B050"/>
                </a:solidFill>
                <a:latin typeface="Aptos"/>
              </a:rPr>
              <a:t> ≈ $0.0030</a:t>
            </a:r>
            <a:r>
              <a:rPr sz="1170" b="1" dirty="0">
                <a:solidFill>
                  <a:srgbClr val="385DD7"/>
                </a:solidFill>
                <a:latin typeface="Aptos"/>
              </a:rPr>
              <a:t>   •   GPT-5 mini ≈ $0.0070   •   Local = compute/electricity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9808" y="6245352"/>
            <a:ext cx="10972800" cy="201168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61718A"/>
                </a:solidFill>
                <a:latin typeface="Aptos"/>
              </a:rPr>
              <a:t>List prices vary by region / tier, token mix and date. Costs are illustrative—not measured prototype usage.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6574536"/>
            <a:ext cx="758952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85DD7"/>
                </a:solidFill>
                <a:latin typeface="Aptos"/>
                <a:hlinkClick r:id="rId2"/>
              </a:rPr>
              <a:t>GROQ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6574536"/>
            <a:ext cx="758952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85DD7"/>
                </a:solidFill>
                <a:latin typeface="Aptos"/>
                <a:hlinkClick r:id="rId3"/>
              </a:rPr>
              <a:t>ALIBABA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08592" y="6574536"/>
            <a:ext cx="758952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85DD7"/>
                </a:solidFill>
                <a:latin typeface="Aptos"/>
                <a:hlinkClick r:id="rId4"/>
              </a:rPr>
              <a:t>OPENAI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59568" y="6574536"/>
            <a:ext cx="758952" cy="210312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85DD7"/>
                </a:solidFill>
                <a:latin typeface="Aptos"/>
                <a:hlinkClick r:id="rId5"/>
              </a:rPr>
              <a:t>OLLAMA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08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TESTING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Reproducible checks and honest evaluation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tests validate code paths; scenario tests assess fault-family matching—not causal truth.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066544"/>
            <a:ext cx="338328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50392" y="222199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322576" y="2203704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Tests discovered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322576" y="249631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6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 passed • 3 skipped*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4407408" y="2066544"/>
            <a:ext cx="338328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4617720" y="222199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/ 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089904" y="2203704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targets matched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89904" y="249631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6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unmatched • 0 missed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8174736" y="2066544"/>
            <a:ext cx="338328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385048" y="222199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82,955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857232" y="2203704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Generated lines evaluated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857232" y="2496312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6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controlled scenarios</a:t>
            </a:r>
            <a:endParaRPr lang="en-US" sz="1060" dirty="0"/>
          </a:p>
        </p:txBody>
      </p:sp>
      <p:sp>
        <p:nvSpPr>
          <p:cNvPr id="21" name="Shape 19"/>
          <p:cNvSpPr/>
          <p:nvPr/>
        </p:nvSpPr>
        <p:spPr>
          <a:xfrm>
            <a:off x="649224" y="3419856"/>
            <a:ext cx="6739128" cy="2496312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923544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2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Representative scenario outcomes</a:t>
            </a:r>
            <a:endParaRPr lang="en-US" sz="1720" dirty="0"/>
          </a:p>
        </p:txBody>
      </p:sp>
      <p:sp>
        <p:nvSpPr>
          <p:cNvPr id="23" name="Shape 21"/>
          <p:cNvSpPr/>
          <p:nvPr/>
        </p:nvSpPr>
        <p:spPr>
          <a:xfrm>
            <a:off x="905256" y="4110228"/>
            <a:ext cx="6190488" cy="310896"/>
          </a:xfrm>
          <a:prstGeom prst="rect">
            <a:avLst/>
          </a:prstGeom>
          <a:solidFill>
            <a:srgbClr val="F0F4F9"/>
          </a:solidFill>
          <a:ln w="12700">
            <a:solidFill>
              <a:srgbClr val="F0F4F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60120" y="414223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Scenario</a:t>
            </a:r>
            <a:endParaRPr lang="en-US" sz="1130" dirty="0"/>
          </a:p>
        </p:txBody>
      </p:sp>
      <p:sp>
        <p:nvSpPr>
          <p:cNvPr id="25" name="Text 23"/>
          <p:cNvSpPr/>
          <p:nvPr/>
        </p:nvSpPr>
        <p:spPr>
          <a:xfrm>
            <a:off x="3858768" y="4142232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</a:t>
            </a:r>
            <a:endParaRPr lang="en-US" sz="1130" dirty="0"/>
          </a:p>
        </p:txBody>
      </p:sp>
      <p:sp>
        <p:nvSpPr>
          <p:cNvPr id="26" name="Text 24"/>
          <p:cNvSpPr/>
          <p:nvPr/>
        </p:nvSpPr>
        <p:spPr>
          <a:xfrm>
            <a:off x="4992624" y="4142232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lang="en-US" sz="1130" dirty="0"/>
          </a:p>
        </p:txBody>
      </p:sp>
      <p:sp>
        <p:nvSpPr>
          <p:cNvPr id="27" name="Text 25"/>
          <p:cNvSpPr/>
          <p:nvPr/>
        </p:nvSpPr>
        <p:spPr>
          <a:xfrm>
            <a:off x="6099048" y="4142232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13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Enhanced</a:t>
            </a:r>
            <a:endParaRPr lang="en-US" sz="1130" dirty="0"/>
          </a:p>
        </p:txBody>
      </p:sp>
      <p:sp>
        <p:nvSpPr>
          <p:cNvPr id="28" name="Text 26"/>
          <p:cNvSpPr/>
          <p:nvPr/>
        </p:nvSpPr>
        <p:spPr>
          <a:xfrm>
            <a:off x="960120" y="4471416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GC pressure</a:t>
            </a:r>
            <a:endParaRPr lang="en-US" sz="1210" dirty="0"/>
          </a:p>
        </p:txBody>
      </p:sp>
      <p:sp>
        <p:nvSpPr>
          <p:cNvPr id="29" name="Text 27"/>
          <p:cNvSpPr/>
          <p:nvPr/>
        </p:nvSpPr>
        <p:spPr>
          <a:xfrm>
            <a:off x="3858768" y="4471416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0" name="Text 28"/>
          <p:cNvSpPr/>
          <p:nvPr/>
        </p:nvSpPr>
        <p:spPr>
          <a:xfrm>
            <a:off x="4992624" y="4471416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10" dirty="0"/>
          </a:p>
        </p:txBody>
      </p:sp>
      <p:sp>
        <p:nvSpPr>
          <p:cNvPr id="31" name="Text 29"/>
          <p:cNvSpPr/>
          <p:nvPr/>
        </p:nvSpPr>
        <p:spPr>
          <a:xfrm>
            <a:off x="6099048" y="4471416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2" name="Text 30"/>
          <p:cNvSpPr/>
          <p:nvPr/>
        </p:nvSpPr>
        <p:spPr>
          <a:xfrm>
            <a:off x="960120" y="4800600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Slow queries (no GC)</a:t>
            </a:r>
            <a:endParaRPr lang="en-US" sz="1210" dirty="0"/>
          </a:p>
        </p:txBody>
      </p:sp>
      <p:sp>
        <p:nvSpPr>
          <p:cNvPr id="33" name="Text 31"/>
          <p:cNvSpPr/>
          <p:nvPr/>
        </p:nvSpPr>
        <p:spPr>
          <a:xfrm>
            <a:off x="3858768" y="4800600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4" name="Text 32"/>
          <p:cNvSpPr/>
          <p:nvPr/>
        </p:nvSpPr>
        <p:spPr>
          <a:xfrm>
            <a:off x="4992624" y="4800600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10" dirty="0"/>
          </a:p>
        </p:txBody>
      </p:sp>
      <p:sp>
        <p:nvSpPr>
          <p:cNvPr id="35" name="Text 33"/>
          <p:cNvSpPr/>
          <p:nvPr/>
        </p:nvSpPr>
        <p:spPr>
          <a:xfrm>
            <a:off x="6099048" y="4800600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6" name="Text 34"/>
          <p:cNvSpPr/>
          <p:nvPr/>
        </p:nvSpPr>
        <p:spPr>
          <a:xfrm>
            <a:off x="960120" y="5129784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Benign ZK reconnect</a:t>
            </a:r>
            <a:endParaRPr lang="en-US" sz="1210" dirty="0"/>
          </a:p>
        </p:txBody>
      </p:sp>
      <p:sp>
        <p:nvSpPr>
          <p:cNvPr id="37" name="Text 35"/>
          <p:cNvSpPr/>
          <p:nvPr/>
        </p:nvSpPr>
        <p:spPr>
          <a:xfrm>
            <a:off x="3858768" y="5129784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10" dirty="0"/>
          </a:p>
        </p:txBody>
      </p:sp>
      <p:sp>
        <p:nvSpPr>
          <p:cNvPr id="38" name="Text 36"/>
          <p:cNvSpPr/>
          <p:nvPr/>
        </p:nvSpPr>
        <p:spPr>
          <a:xfrm>
            <a:off x="4992624" y="5129784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10" dirty="0"/>
          </a:p>
        </p:txBody>
      </p:sp>
      <p:sp>
        <p:nvSpPr>
          <p:cNvPr id="39" name="Text 37"/>
          <p:cNvSpPr/>
          <p:nvPr/>
        </p:nvSpPr>
        <p:spPr>
          <a:xfrm>
            <a:off x="6099048" y="5129784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</a:t>
            </a:r>
            <a:endParaRPr lang="en-US" sz="1210" dirty="0"/>
          </a:p>
        </p:txBody>
      </p:sp>
      <p:sp>
        <p:nvSpPr>
          <p:cNvPr id="40" name="Text 38"/>
          <p:cNvSpPr/>
          <p:nvPr/>
        </p:nvSpPr>
        <p:spPr>
          <a:xfrm>
            <a:off x="960120" y="5458968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Mixed failures</a:t>
            </a:r>
            <a:endParaRPr lang="en-US" sz="1210" dirty="0"/>
          </a:p>
        </p:txBody>
      </p:sp>
      <p:sp>
        <p:nvSpPr>
          <p:cNvPr id="41" name="Text 39"/>
          <p:cNvSpPr/>
          <p:nvPr/>
        </p:nvSpPr>
        <p:spPr>
          <a:xfrm>
            <a:off x="3858768" y="545896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10" dirty="0"/>
          </a:p>
        </p:txBody>
      </p:sp>
      <p:sp>
        <p:nvSpPr>
          <p:cNvPr id="42" name="Text 40"/>
          <p:cNvSpPr/>
          <p:nvPr/>
        </p:nvSpPr>
        <p:spPr>
          <a:xfrm>
            <a:off x="4992624" y="545896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10" dirty="0"/>
          </a:p>
        </p:txBody>
      </p:sp>
      <p:sp>
        <p:nvSpPr>
          <p:cNvPr id="43" name="Text 41"/>
          <p:cNvSpPr/>
          <p:nvPr/>
        </p:nvSpPr>
        <p:spPr>
          <a:xfrm>
            <a:off x="6099048" y="5458968"/>
            <a:ext cx="813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2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10" dirty="0"/>
          </a:p>
        </p:txBody>
      </p:sp>
      <p:sp>
        <p:nvSpPr>
          <p:cNvPr id="44" name="Shape 42"/>
          <p:cNvSpPr/>
          <p:nvPr/>
        </p:nvSpPr>
        <p:spPr>
          <a:xfrm>
            <a:off x="7598664" y="3419856"/>
            <a:ext cx="3941064" cy="2496312"/>
          </a:xfrm>
          <a:prstGeom prst="roundRect">
            <a:avLst>
              <a:gd name="adj" fmla="val 5861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882128" y="3675888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tests actually cover</a:t>
            </a:r>
            <a:endParaRPr lang="en-US" sz="1700" dirty="0"/>
          </a:p>
        </p:txBody>
      </p:sp>
      <p:sp>
        <p:nvSpPr>
          <p:cNvPr id="46" name="Shape 44"/>
          <p:cNvSpPr/>
          <p:nvPr/>
        </p:nvSpPr>
        <p:spPr>
          <a:xfrm>
            <a:off x="7882128" y="4151376"/>
            <a:ext cx="256032" cy="256032"/>
          </a:xfrm>
          <a:prstGeom prst="ellipse">
            <a:avLst/>
          </a:prstGeom>
          <a:solidFill>
            <a:srgbClr val="E7F7F3"/>
          </a:solidFill>
          <a:ln w="1270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7900416" y="4174236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8220456" y="4123944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Parsing, GC classification, hard rules</a:t>
            </a:r>
            <a:endParaRPr lang="en-US" sz="1210" dirty="0"/>
          </a:p>
        </p:txBody>
      </p:sp>
      <p:sp>
        <p:nvSpPr>
          <p:cNvPr id="49" name="Shape 47"/>
          <p:cNvSpPr/>
          <p:nvPr/>
        </p:nvSpPr>
        <p:spPr>
          <a:xfrm>
            <a:off x="7882128" y="4544568"/>
            <a:ext cx="256032" cy="256032"/>
          </a:xfrm>
          <a:prstGeom prst="ellipse">
            <a:avLst/>
          </a:prstGeom>
          <a:solidFill>
            <a:srgbClr val="E7F7F3"/>
          </a:solidFill>
          <a:ln w="1270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7900416" y="4567428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8220456" y="4517136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MAD/CUSUM and topology correlation</a:t>
            </a:r>
            <a:endParaRPr lang="en-US" sz="1210" dirty="0"/>
          </a:p>
        </p:txBody>
      </p:sp>
      <p:sp>
        <p:nvSpPr>
          <p:cNvPr id="52" name="Shape 50"/>
          <p:cNvSpPr/>
          <p:nvPr/>
        </p:nvSpPr>
        <p:spPr>
          <a:xfrm>
            <a:off x="7882128" y="4937760"/>
            <a:ext cx="256032" cy="256032"/>
          </a:xfrm>
          <a:prstGeom prst="ellipse">
            <a:avLst/>
          </a:prstGeom>
          <a:solidFill>
            <a:srgbClr val="E7F7F3"/>
          </a:solidFill>
          <a:ln w="1270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7900416" y="4960620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8220456" y="4910328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tool allowlist &amp; evidence IDs</a:t>
            </a:r>
            <a:endParaRPr lang="en-US" sz="1210" dirty="0"/>
          </a:p>
        </p:txBody>
      </p:sp>
      <p:sp>
        <p:nvSpPr>
          <p:cNvPr id="55" name="Shape 53"/>
          <p:cNvSpPr/>
          <p:nvPr/>
        </p:nvSpPr>
        <p:spPr>
          <a:xfrm>
            <a:off x="7882128" y="5330952"/>
            <a:ext cx="256032" cy="256032"/>
          </a:xfrm>
          <a:prstGeom prst="ellipse">
            <a:avLst/>
          </a:prstGeom>
          <a:solidFill>
            <a:srgbClr val="E7F7F3"/>
          </a:solidFill>
          <a:ln w="12700">
            <a:solidFill>
              <a:srgbClr val="E7F7F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7900416" y="5353812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700" dirty="0"/>
          </a:p>
        </p:txBody>
      </p:sp>
      <p:sp>
        <p:nvSpPr>
          <p:cNvPr id="57" name="Text 55"/>
          <p:cNvSpPr/>
          <p:nvPr/>
        </p:nvSpPr>
        <p:spPr>
          <a:xfrm>
            <a:off x="8220456" y="5303520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1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Token budgets, JSON validation, fallbacks</a:t>
            </a:r>
            <a:endParaRPr lang="en-US" sz="1210" dirty="0"/>
          </a:p>
        </p:txBody>
      </p:sp>
      <p:sp>
        <p:nvSpPr>
          <p:cNvPr id="58" name="Text 56"/>
          <p:cNvSpPr/>
          <p:nvPr/>
        </p:nvSpPr>
        <p:spPr>
          <a:xfrm>
            <a:off x="704088" y="6071616"/>
            <a:ext cx="10789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3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*Three LangGraph-dependent tests skipped here because LangGraph was not installed.</a:t>
            </a:r>
            <a:endParaRPr lang="en-US" sz="1030" dirty="0"/>
          </a:p>
        </p:txBody>
      </p:sp>
      <p:sp>
        <p:nvSpPr>
          <p:cNvPr id="59" name="Shape 57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PRECISION / RECALL = 1.00 ON GENERATOR-LABELED SCENARIOS; NOT A MEASURE OF PRODUCTION ACCURACY</a:t>
            </a:r>
            <a:endParaRPr lang="en-US" sz="9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"/>
          </a:xfrm>
          <a:prstGeom prst="rect">
            <a:avLst/>
          </a:prstGeom>
          <a:solidFill>
            <a:srgbClr val="142644"/>
          </a:solidFill>
          <a:ln w="12700">
            <a:solidFill>
              <a:srgbClr val="1426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594360" y="310896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70" b="1" kern="0" spc="130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USEREADY  /  AI ENGINEER CASE STUDY</a:t>
            </a:r>
            <a:endParaRPr lang="en-US" sz="1070" dirty="0"/>
          </a:p>
        </p:txBody>
      </p:sp>
      <p:sp>
        <p:nvSpPr>
          <p:cNvPr id="4" name="Text 2"/>
          <p:cNvSpPr/>
          <p:nvPr/>
        </p:nvSpPr>
        <p:spPr>
          <a:xfrm>
            <a:off x="10817352" y="30175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100" b="1">
                <a:solidFill>
                  <a:srgbClr val="61718A"/>
                </a:solidFill>
                <a:latin typeface="Aptos"/>
              </a:rPr>
              <a:t>09  /  09</a:t>
            </a:r>
          </a:p>
        </p:txBody>
      </p:sp>
      <p:sp>
        <p:nvSpPr>
          <p:cNvPr id="5" name="Shape 3"/>
          <p:cNvSpPr/>
          <p:nvPr/>
        </p:nvSpPr>
        <p:spPr>
          <a:xfrm>
            <a:off x="585216" y="640080"/>
            <a:ext cx="11009376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21792" y="83210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120" b="1" kern="0" spc="120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SNAPSHOTS</a:t>
            </a:r>
            <a:endParaRPr lang="en-US" sz="1120" dirty="0"/>
          </a:p>
        </p:txBody>
      </p:sp>
      <p:sp>
        <p:nvSpPr>
          <p:cNvPr id="7" name="Text 5"/>
          <p:cNvSpPr/>
          <p:nvPr/>
        </p:nvSpPr>
        <p:spPr>
          <a:xfrm>
            <a:off x="603504" y="1078992"/>
            <a:ext cx="107899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3050" b="1" dirty="0">
                <a:solidFill>
                  <a:srgbClr val="14264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bundled demonstration shows</a:t>
            </a:r>
            <a:endParaRPr lang="en-US" sz="3050" dirty="0"/>
          </a:p>
        </p:txBody>
      </p:sp>
      <p:sp>
        <p:nvSpPr>
          <p:cNvPr id="8" name="Text 6"/>
          <p:cNvSpPr/>
          <p:nvPr/>
        </p:nvSpPr>
        <p:spPr>
          <a:xfrm>
            <a:off x="621792" y="1627632"/>
            <a:ext cx="1069848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incident families surfaced with source evidence and conservative RCA.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" y="2048256"/>
            <a:ext cx="5477256" cy="3986784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126480" y="2048256"/>
            <a:ext cx="5477256" cy="3986784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143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0" descr="/mnt/data/useready_work/preview_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57984"/>
            <a:ext cx="5294376" cy="3493008"/>
          </a:xfrm>
          <a:prstGeom prst="rect">
            <a:avLst/>
          </a:prstGeom>
        </p:spPr>
      </p:pic>
      <p:pic>
        <p:nvPicPr>
          <p:cNvPr id="12" name="Image 1" descr="/mnt/data/useready_work/preview_incide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2157984"/>
            <a:ext cx="5294376" cy="349300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77240" y="5696712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b="1" dirty="0">
                <a:solidFill>
                  <a:srgbClr val="385D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 /  Cluster + node summary</a:t>
            </a:r>
            <a:endParaRPr lang="en-US" sz="1310" dirty="0"/>
          </a:p>
        </p:txBody>
      </p:sp>
      <p:sp>
        <p:nvSpPr>
          <p:cNvPr id="14" name="Text 10"/>
          <p:cNvSpPr/>
          <p:nvPr/>
        </p:nvSpPr>
        <p:spPr>
          <a:xfrm>
            <a:off x="6318504" y="5696712"/>
            <a:ext cx="51846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10" b="1" dirty="0">
                <a:solidFill>
                  <a:srgbClr val="008A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 /  Incident correlation + original evidence</a:t>
            </a:r>
            <a:endParaRPr lang="en-US" sz="1310" dirty="0"/>
          </a:p>
        </p:txBody>
      </p:sp>
      <p:sp>
        <p:nvSpPr>
          <p:cNvPr id="15" name="Text 11"/>
          <p:cNvSpPr/>
          <p:nvPr/>
        </p:nvSpPr>
        <p:spPr>
          <a:xfrm>
            <a:off x="704088" y="6199632"/>
            <a:ext cx="10881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40" i="1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 recreations from real cli.py demo results — not captured from a running Streamlit session.</a:t>
            </a:r>
            <a:endParaRPr lang="en-US" sz="1040" dirty="0"/>
          </a:p>
        </p:txBody>
      </p:sp>
      <p:sp>
        <p:nvSpPr>
          <p:cNvPr id="16" name="Shape 12"/>
          <p:cNvSpPr/>
          <p:nvPr/>
        </p:nvSpPr>
        <p:spPr>
          <a:xfrm>
            <a:off x="594360" y="6515100"/>
            <a:ext cx="11018520" cy="0"/>
          </a:xfrm>
          <a:prstGeom prst="line">
            <a:avLst/>
          </a:prstGeom>
          <a:noFill/>
          <a:ln w="12700">
            <a:solidFill>
              <a:srgbClr val="DCE4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603504" y="6569964"/>
            <a:ext cx="10698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960" kern="0" spc="50" dirty="0">
                <a:solidFill>
                  <a:srgbClr val="61718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BUNDLED RUN: 21,609 PARSED EVENTS  •  13 FINDINGS  •  2 INCIDENTS  •  NO LIVE SOLRCLUSTER CONNECTION</a:t>
            </a:r>
            <a:endParaRPr lang="en-US" sz="9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1318</Words>
  <Application>Microsoft Office PowerPoint</Application>
  <PresentationFormat>Widescreen</PresentationFormat>
  <Paragraphs>268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AI Engineer Case Study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SolrCloud Observability &amp; RCA | Case Study</dc:title>
  <dc:subject>UseReady SolrCloud observability RCA case study</dc:subject>
  <dc:creator>OpenAI</dc:creator>
  <cp:lastModifiedBy>Nimish G.S. Khandeparkar</cp:lastModifiedBy>
  <cp:revision>5</cp:revision>
  <dcterms:created xsi:type="dcterms:W3CDTF">2026-10-27T06:34:23Z</dcterms:created>
  <dcterms:modified xsi:type="dcterms:W3CDTF">2026-10-27T08:13:29Z</dcterms:modified>
</cp:coreProperties>
</file>